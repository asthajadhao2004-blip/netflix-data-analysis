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8722EDB-D4C1-49B8-474A-2CEC0FE03F28}">
          <p14:sldIdLst>
            <p14:sldId id="256"/>
            <p14:sldId id="257"/>
            <p14:sldId id="258"/>
            <p14:sldId id="259"/>
          </p14:sldIdLst>
        </p14:section>
        <p14:section name="Content" id="{3CE6420F-2D63-5B6D-0310-78C898E900F6}">
          <p14:sldIdLst>
            <p14:sldId id="260"/>
            <p14:sldId id="261"/>
            <p14:sldId id="262"/>
            <p14:sldId id="263"/>
            <p14:sldId id="264"/>
          </p14:sldIdLst>
        </p14:section>
        <p14:section name="Global" id="{F42F0F69-2D6F-4F6B-FD4C-8A75DEC548F7}">
          <p14:sldIdLst>
            <p14:sldId id="265"/>
            <p14:sldId id="266"/>
            <p14:sldId id="267"/>
          </p14:sldIdLst>
        </p14:section>
        <p14:section name="Genres" id="{40820727-733B-304A-082E-CEB435D1A668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Wrap-up" id="{5FEEAEF4-7415-130D-3162-1E5CB5430CCF}">
          <p14:sldIdLst>
            <p14:sldId id="274"/>
            <p14:sldId id="275"/>
            <p14:sldId id="27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E50914"/>
              </a:solidFill>
              <a:ln w="12700" cap="flat">
                <a:solidFill>
                  <a:srgbClr val="0F0F0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B6B6B"/>
              </a:solidFill>
              <a:ln w="12700" cap="flat">
                <a:solidFill>
                  <a:srgbClr val="0F0F0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6131</c:v>
                </c:pt>
                <c:pt idx="1">
                  <c:v>2676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B3B3B3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66ad767-eac4-47f4-8eb5-18c8c6e32dbf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</c:v>
                </c:pt>
                <c:pt idx="1">
                  <c:v>253</c:v>
                </c:pt>
                <c:pt idx="2">
                  <c:v>839</c:v>
                </c:pt>
                <c:pt idx="3">
                  <c:v>1237</c:v>
                </c:pt>
                <c:pt idx="4">
                  <c:v>1424</c:v>
                </c:pt>
                <c:pt idx="5">
                  <c:v>1284</c:v>
                </c:pt>
                <c:pt idx="6">
                  <c:v>993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TV Shows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26</c:v>
                </c:pt>
                <c:pt idx="1">
                  <c:v>176</c:v>
                </c:pt>
                <c:pt idx="2">
                  <c:v>349</c:v>
                </c:pt>
                <c:pt idx="3">
                  <c:v>412</c:v>
                </c:pt>
                <c:pt idx="4">
                  <c:v>592</c:v>
                </c:pt>
                <c:pt idx="5">
                  <c:v>595</c:v>
                </c:pt>
                <c:pt idx="6">
                  <c:v>505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B3B3B3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172f47c-9463-4ab3-8dab-a05904d02ac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 share %</c:v>
                </c:pt>
              </c:strCache>
            </c:strRef>
          </c:tx>
          <c:spPr>
            <a:ln w="38100" cap="flat" cmpd="sng" algn="ctr">
              <a:solidFill>
                <a:srgbClr val="E50914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E50914"/>
              </a:solidFill>
              <a:ln w="9525" cap="flat" cmpd="sng" algn="ctr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31.7</c:v>
                </c:pt>
                <c:pt idx="1">
                  <c:v>41</c:v>
                </c:pt>
                <c:pt idx="2">
                  <c:v>29.4</c:v>
                </c:pt>
                <c:pt idx="3">
                  <c:v>25</c:v>
                </c:pt>
                <c:pt idx="4">
                  <c:v>29.4</c:v>
                </c:pt>
                <c:pt idx="5">
                  <c:v>31.7</c:v>
                </c:pt>
                <c:pt idx="6">
                  <c:v>33.7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15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d9a81a1-b215-49cd-8425-143ef86b54e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B3B3B3"/>
                </a:solidFill>
                <a:latin typeface="+mn-lt"/>
              </a:rPr>
              <a:t>Movie runtime (min)</a:t>
            </a:r>
            <a:endParaRPr sz="1000" b="0" i="0" u="none" strike="noStrike">
              <a:solidFill>
                <a:srgbClr val="B3B3B3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&lt;40</c:v>
                </c:pt>
                <c:pt idx="1">
                  <c:v>40-59</c:v>
                </c:pt>
                <c:pt idx="2">
                  <c:v>60-79</c:v>
                </c:pt>
                <c:pt idx="3">
                  <c:v>80-99</c:v>
                </c:pt>
                <c:pt idx="4">
                  <c:v>100-119</c:v>
                </c:pt>
                <c:pt idx="5">
                  <c:v>120-139</c:v>
                </c:pt>
                <c:pt idx="6">
                  <c:v>140-159</c:v>
                </c:pt>
                <c:pt idx="7">
                  <c:v>160+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170</c:v>
                </c:pt>
                <c:pt idx="1">
                  <c:v>288</c:v>
                </c:pt>
                <c:pt idx="2">
                  <c:v>594</c:v>
                </c:pt>
                <c:pt idx="3">
                  <c:v>2157</c:v>
                </c:pt>
                <c:pt idx="4">
                  <c:v>1724</c:v>
                </c:pt>
                <c:pt idx="5">
                  <c:v>770</c:v>
                </c:pt>
                <c:pt idx="6">
                  <c:v>271</c:v>
                </c:pt>
                <c:pt idx="7">
                  <c:v>157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1fe3c7d-dfeb-4abe-a360-61c92cedeee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B3B3B3"/>
                </a:solidFill>
                <a:latin typeface="+mn-lt"/>
              </a:rPr>
              <a:t>TV Show seasons</a:t>
            </a:r>
            <a:endParaRPr sz="1000" b="0" i="0" u="none" strike="noStrike">
              <a:solidFill>
                <a:srgbClr val="B3B3B3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 Shows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1793</c:v>
                </c:pt>
                <c:pt idx="1">
                  <c:v>425</c:v>
                </c:pt>
                <c:pt idx="2">
                  <c:v>199</c:v>
                </c:pt>
                <c:pt idx="3">
                  <c:v>95</c:v>
                </c:pt>
                <c:pt idx="4">
                  <c:v>65</c:v>
                </c:pt>
                <c:pt idx="5">
                  <c:v>33</c:v>
                </c:pt>
                <c:pt idx="6">
                  <c:v>66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31f9308-d477-4315-b9f1-e3ca55bc68f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B3B3B3"/>
                </a:solidFill>
                <a:latin typeface="+mn-lt"/>
              </a:rPr>
              <a:t>Titles by lag between release and addition</a:t>
            </a:r>
            <a:endParaRPr sz="1000" b="0" i="0" u="none" strike="noStrike">
              <a:solidFill>
                <a:srgbClr val="B3B3B3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Same year</c:v>
                </c:pt>
                <c:pt idx="1">
                  <c:v>1 year</c:v>
                </c:pt>
                <c:pt idx="2">
                  <c:v>2-5 yrs</c:v>
                </c:pt>
                <c:pt idx="3">
                  <c:v>6-10 yrs</c:v>
                </c:pt>
                <c:pt idx="4">
                  <c:v>10+ yrs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</c:v>
                </c:pt>
                <c:pt idx="1">
                  <c:v>18</c:v>
                </c:pt>
                <c:pt idx="2">
                  <c:v>20.8</c:v>
                </c:pt>
                <c:pt idx="3">
                  <c:v>10.4</c:v>
                </c:pt>
                <c:pt idx="4">
                  <c:v>13.7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9cc1e15-f15a-410e-8167-d0ba85327c26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United States</c:v>
                </c:pt>
                <c:pt idx="1">
                  <c:v>India</c:v>
                </c:pt>
                <c:pt idx="2">
                  <c:v>United Kingdom</c:v>
                </c:pt>
                <c:pt idx="3">
                  <c:v>Canada</c:v>
                </c:pt>
                <c:pt idx="4">
                  <c:v>France</c:v>
                </c:pt>
                <c:pt idx="5">
                  <c:v>Japan</c:v>
                </c:pt>
                <c:pt idx="6">
                  <c:v>Spain</c:v>
                </c:pt>
                <c:pt idx="7">
                  <c:v>South Korea</c:v>
                </c:pt>
                <c:pt idx="8">
                  <c:v>Germany</c:v>
                </c:pt>
                <c:pt idx="9">
                  <c:v>Mexico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3690</c:v>
                </c:pt>
                <c:pt idx="1">
                  <c:v>1046</c:v>
                </c:pt>
                <c:pt idx="2">
                  <c:v>806</c:v>
                </c:pt>
                <c:pt idx="3">
                  <c:v>445</c:v>
                </c:pt>
                <c:pt idx="4">
                  <c:v>393</c:v>
                </c:pt>
                <c:pt idx="5">
                  <c:v>318</c:v>
                </c:pt>
                <c:pt idx="6">
                  <c:v>232</c:v>
                </c:pt>
                <c:pt idx="7">
                  <c:v>231</c:v>
                </c:pt>
                <c:pt idx="8">
                  <c:v>226</c:v>
                </c:pt>
                <c:pt idx="9">
                  <c:v>169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75bd619-da05-4fb0-8d22-3e337e16c13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United States</c:v>
                </c:pt>
                <c:pt idx="1">
                  <c:v>India</c:v>
                </c:pt>
                <c:pt idx="2">
                  <c:v>United Kingdom</c:v>
                </c:pt>
                <c:pt idx="3">
                  <c:v>Canada</c:v>
                </c:pt>
                <c:pt idx="4">
                  <c:v>France</c:v>
                </c:pt>
                <c:pt idx="5">
                  <c:v>Japan</c:v>
                </c:pt>
                <c:pt idx="6">
                  <c:v>Spain</c:v>
                </c:pt>
                <c:pt idx="7">
                  <c:v>South Korea</c:v>
                </c:pt>
                <c:pt idx="8">
                  <c:v>Germany</c:v>
                </c:pt>
                <c:pt idx="9">
                  <c:v>Mexico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74.6</c:v>
                </c:pt>
                <c:pt idx="1">
                  <c:v>92</c:v>
                </c:pt>
                <c:pt idx="2">
                  <c:v>66.3</c:v>
                </c:pt>
                <c:pt idx="3">
                  <c:v>71.7</c:v>
                </c:pt>
                <c:pt idx="4">
                  <c:v>77.1</c:v>
                </c:pt>
                <c:pt idx="5">
                  <c:v>37.4</c:v>
                </c:pt>
                <c:pt idx="6">
                  <c:v>73.7</c:v>
                </c:pt>
                <c:pt idx="7">
                  <c:v>26.4</c:v>
                </c:pt>
                <c:pt idx="8">
                  <c:v>80.5</c:v>
                </c:pt>
                <c:pt idx="9">
                  <c:v>65.7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TV Shows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United States</c:v>
                </c:pt>
                <c:pt idx="1">
                  <c:v>India</c:v>
                </c:pt>
                <c:pt idx="2">
                  <c:v>United Kingdom</c:v>
                </c:pt>
                <c:pt idx="3">
                  <c:v>Canada</c:v>
                </c:pt>
                <c:pt idx="4">
                  <c:v>France</c:v>
                </c:pt>
                <c:pt idx="5">
                  <c:v>Japan</c:v>
                </c:pt>
                <c:pt idx="6">
                  <c:v>Spain</c:v>
                </c:pt>
                <c:pt idx="7">
                  <c:v>South Korea</c:v>
                </c:pt>
                <c:pt idx="8">
                  <c:v>Germany</c:v>
                </c:pt>
                <c:pt idx="9">
                  <c:v>Mexico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25.4</c:v>
                </c:pt>
                <c:pt idx="1">
                  <c:v>8</c:v>
                </c:pt>
                <c:pt idx="2">
                  <c:v>33.7</c:v>
                </c:pt>
                <c:pt idx="3">
                  <c:v>28.3</c:v>
                </c:pt>
                <c:pt idx="4">
                  <c:v>22.9</c:v>
                </c:pt>
                <c:pt idx="5">
                  <c:v>62.6</c:v>
                </c:pt>
                <c:pt idx="6">
                  <c:v>26.3</c:v>
                </c:pt>
                <c:pt idx="7">
                  <c:v>73.6</c:v>
                </c:pt>
                <c:pt idx="8">
                  <c:v>19.5</c:v>
                </c:pt>
                <c:pt idx="9">
                  <c:v>34.3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B3B3B3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cc64c7c-3d43-4fd6-9231-487b629a06ef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United States</c:v>
                </c:pt>
              </c:strCache>
            </c:strRef>
          </c:tx>
          <c:spPr>
            <a:ln w="31750" cap="flat" cmpd="sng" algn="ctr">
              <a:solidFill>
                <a:srgbClr val="E509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0914"/>
              </a:solidFill>
              <a:ln w="9525" cap="flat" cmpd="sng" algn="ctr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</c:v>
                </c:pt>
                <c:pt idx="1">
                  <c:v>203</c:v>
                </c:pt>
                <c:pt idx="2">
                  <c:v>462</c:v>
                </c:pt>
                <c:pt idx="3">
                  <c:v>600</c:v>
                </c:pt>
                <c:pt idx="4">
                  <c:v>856</c:v>
                </c:pt>
                <c:pt idx="5">
                  <c:v>828</c:v>
                </c:pt>
                <c:pt idx="6">
                  <c:v>627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India</c:v>
                </c:pt>
              </c:strCache>
            </c:strRef>
          </c:tx>
          <c:spPr>
            <a:ln w="31750" cap="flat" cmpd="sng" algn="ctr">
              <a:solidFill>
                <a:srgbClr val="FFFF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FFFF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13</c:v>
                </c:pt>
                <c:pt idx="2">
                  <c:v>162</c:v>
                </c:pt>
                <c:pt idx="3">
                  <c:v>349</c:v>
                </c:pt>
                <c:pt idx="4">
                  <c:v>218</c:v>
                </c:pt>
                <c:pt idx="5">
                  <c:v>199</c:v>
                </c:pt>
                <c:pt idx="6">
                  <c:v>105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United Kingdom</c:v>
                </c:pt>
              </c:strCache>
            </c:strRef>
          </c:tx>
          <c:spPr>
            <a:ln w="31750" cap="flat" cmpd="sng" algn="ctr">
              <a:solidFill>
                <a:srgbClr val="B3B3B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3B3B3"/>
              </a:solidFill>
              <a:ln w="9525" cap="flat" cmpd="sng" algn="ctr">
                <a:solidFill>
                  <a:srgbClr val="B3B3B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8</c:v>
                </c:pt>
                <c:pt idx="1">
                  <c:v>54</c:v>
                </c:pt>
                <c:pt idx="2">
                  <c:v>134</c:v>
                </c:pt>
                <c:pt idx="3">
                  <c:v>147</c:v>
                </c:pt>
                <c:pt idx="4">
                  <c:v>191</c:v>
                </c:pt>
                <c:pt idx="5">
                  <c:v>146</c:v>
                </c:pt>
                <c:pt idx="6">
                  <c:v>120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Canada</c:v>
                </c:pt>
              </c:strCache>
            </c:strRef>
          </c:tx>
          <c:spPr>
            <a:ln w="31750" cap="flat" cmpd="sng" algn="ctr">
              <a:solidFill>
                <a:srgbClr val="B2071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20710"/>
              </a:solidFill>
              <a:ln w="9525" cap="flat" cmpd="sng" algn="ctr">
                <a:solidFill>
                  <a:srgbClr val="B2071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Sheet1!$E$2:$E$8</c:f>
              <c:numCache>
                <c:formatCode>General</c:formatCode>
                <c:ptCount val="7"/>
                <c:pt idx="0">
                  <c:v>6</c:v>
                </c:pt>
                <c:pt idx="1">
                  <c:v>30</c:v>
                </c:pt>
                <c:pt idx="2">
                  <c:v>71</c:v>
                </c:pt>
                <c:pt idx="3">
                  <c:v>81</c:v>
                </c:pt>
                <c:pt idx="4">
                  <c:v>84</c:v>
                </c:pt>
                <c:pt idx="5">
                  <c:v>110</c:v>
                </c:pt>
                <c:pt idx="6">
                  <c:v>59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France</c:v>
                </c:pt>
              </c:strCache>
            </c:strRef>
          </c:tx>
          <c:spPr>
            <a:ln w="31750" cap="flat" cmpd="sng" algn="ctr">
              <a:solidFill>
                <a:srgbClr val="6B6B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6B6B"/>
              </a:solidFill>
              <a:ln w="9525" cap="flat" cmpd="sng" algn="ctr">
                <a:solidFill>
                  <a:srgbClr val="6B6B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Sheet1!$F$2:$F$8</c:f>
              <c:numCache>
                <c:formatCode>General</c:formatCode>
                <c:ptCount val="7"/>
                <c:pt idx="0">
                  <c:v>9</c:v>
                </c:pt>
                <c:pt idx="1">
                  <c:v>29</c:v>
                </c:pt>
                <c:pt idx="2">
                  <c:v>53</c:v>
                </c:pt>
                <c:pt idx="3">
                  <c:v>64</c:v>
                </c:pt>
                <c:pt idx="4">
                  <c:v>79</c:v>
                </c:pt>
                <c:pt idx="5">
                  <c:v>97</c:v>
                </c:pt>
                <c:pt idx="6">
                  <c:v>60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B3B3B3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df748cb-c2c4-4e58-9b0e-ddccb2878f0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International Movies</c:v>
                </c:pt>
                <c:pt idx="1">
                  <c:v>Dramas</c:v>
                </c:pt>
                <c:pt idx="2">
                  <c:v>Comedies</c:v>
                </c:pt>
                <c:pt idx="3">
                  <c:v>International TV Shows</c:v>
                </c:pt>
                <c:pt idx="4">
                  <c:v>Documentaries</c:v>
                </c:pt>
                <c:pt idx="5">
                  <c:v>Action &amp; Adventure</c:v>
                </c:pt>
                <c:pt idx="6">
                  <c:v>TV Dramas</c:v>
                </c:pt>
                <c:pt idx="7">
                  <c:v>Independent Movies</c:v>
                </c:pt>
                <c:pt idx="8">
                  <c:v>Children &amp; Family Movies</c:v>
                </c:pt>
                <c:pt idx="9">
                  <c:v>Romantic Movies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2752</c:v>
                </c:pt>
                <c:pt idx="1">
                  <c:v>2427</c:v>
                </c:pt>
                <c:pt idx="2">
                  <c:v>1674</c:v>
                </c:pt>
                <c:pt idx="3">
                  <c:v>1351</c:v>
                </c:pt>
                <c:pt idx="4">
                  <c:v>869</c:v>
                </c:pt>
                <c:pt idx="5">
                  <c:v>859</c:v>
                </c:pt>
                <c:pt idx="6">
                  <c:v>763</c:v>
                </c:pt>
                <c:pt idx="7">
                  <c:v>756</c:v>
                </c:pt>
                <c:pt idx="8">
                  <c:v>641</c:v>
                </c:pt>
                <c:pt idx="9">
                  <c:v>616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1d9a8c7-f5f9-422b-8ac2-5b87be803bc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B3B3B3"/>
                </a:solidFill>
                <a:latin typeface="+mn-lt"/>
              </a:rPr>
              <a:t>Movies</a:t>
            </a:r>
            <a:endParaRPr sz="1000" b="0" i="0" u="none" strike="noStrike">
              <a:solidFill>
                <a:srgbClr val="B3B3B3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International Movies</c:v>
                </c:pt>
                <c:pt idx="1">
                  <c:v>Dramas</c:v>
                </c:pt>
                <c:pt idx="2">
                  <c:v>Comedies</c:v>
                </c:pt>
                <c:pt idx="3">
                  <c:v>Documentaries</c:v>
                </c:pt>
                <c:pt idx="4">
                  <c:v>Action &amp; Adventure</c:v>
                </c:pt>
                <c:pt idx="5">
                  <c:v>Independent Movies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2752</c:v>
                </c:pt>
                <c:pt idx="1">
                  <c:v>2427</c:v>
                </c:pt>
                <c:pt idx="2">
                  <c:v>1674</c:v>
                </c:pt>
                <c:pt idx="3">
                  <c:v>869</c:v>
                </c:pt>
                <c:pt idx="4">
                  <c:v>859</c:v>
                </c:pt>
                <c:pt idx="5">
                  <c:v>756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365bba9-655c-4d97-9f77-9c9f1eb40010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B3B3B3"/>
                </a:solidFill>
                <a:latin typeface="+mn-lt"/>
              </a:rPr>
              <a:t>TV Shows</a:t>
            </a:r>
            <a:endParaRPr sz="1000" b="0" i="0" u="none" strike="noStrike">
              <a:solidFill>
                <a:srgbClr val="B3B3B3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 Shows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International TV Shows</c:v>
                </c:pt>
                <c:pt idx="1">
                  <c:v>TV Dramas</c:v>
                </c:pt>
                <c:pt idx="2">
                  <c:v>TV Comedies</c:v>
                </c:pt>
                <c:pt idx="3">
                  <c:v>Crime TV Shows</c:v>
                </c:pt>
                <c:pt idx="4">
                  <c:v>Kids' TV</c:v>
                </c:pt>
                <c:pt idx="5">
                  <c:v>Docuseries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1351</c:v>
                </c:pt>
                <c:pt idx="1">
                  <c:v>763</c:v>
                </c:pt>
                <c:pt idx="2">
                  <c:v>581</c:v>
                </c:pt>
                <c:pt idx="3">
                  <c:v>470</c:v>
                </c:pt>
                <c:pt idx="4">
                  <c:v>451</c:v>
                </c:pt>
                <c:pt idx="5">
                  <c:v>395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6d83b66-d526-472b-94fa-52b6a58816d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TV-MA</c:v>
                </c:pt>
                <c:pt idx="1">
                  <c:v>TV-14</c:v>
                </c:pt>
                <c:pt idx="2">
                  <c:v>TV-PG</c:v>
                </c:pt>
                <c:pt idx="3">
                  <c:v>R</c:v>
                </c:pt>
                <c:pt idx="4">
                  <c:v>PG-13</c:v>
                </c:pt>
                <c:pt idx="5">
                  <c:v>TV-Y7</c:v>
                </c:pt>
                <c:pt idx="6">
                  <c:v>TV-Y</c:v>
                </c:pt>
                <c:pt idx="7">
                  <c:v>PG</c:v>
                </c:pt>
                <c:pt idx="8">
                  <c:v>TV-G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36.4</c:v>
                </c:pt>
                <c:pt idx="1">
                  <c:v>24.5</c:v>
                </c:pt>
                <c:pt idx="2">
                  <c:v>9.8</c:v>
                </c:pt>
                <c:pt idx="3">
                  <c:v>9.1</c:v>
                </c:pt>
                <c:pt idx="4">
                  <c:v>5.6</c:v>
                </c:pt>
                <c:pt idx="5">
                  <c:v>3.8</c:v>
                </c:pt>
                <c:pt idx="6">
                  <c:v>3.5</c:v>
                </c:pt>
                <c:pt idx="7">
                  <c:v>3.3</c:v>
                </c:pt>
                <c:pt idx="8">
                  <c:v>2.5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febad46-8601-434b-aba2-ea33705ec38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TV-MA</c:v>
                </c:pt>
                <c:pt idx="1">
                  <c:v>TV-14</c:v>
                </c:pt>
                <c:pt idx="2">
                  <c:v>TV-PG</c:v>
                </c:pt>
                <c:pt idx="3">
                  <c:v>R</c:v>
                </c:pt>
                <c:pt idx="4">
                  <c:v>PG-13</c:v>
                </c:pt>
                <c:pt idx="5">
                  <c:v>TV-Y7</c:v>
                </c:pt>
                <c:pt idx="6">
                  <c:v>TV-Y</c:v>
                </c:pt>
                <c:pt idx="7">
                  <c:v>PG</c:v>
                </c:pt>
                <c:pt idx="8">
                  <c:v>TV-G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33.7</c:v>
                </c:pt>
                <c:pt idx="1">
                  <c:v>23.3</c:v>
                </c:pt>
                <c:pt idx="2">
                  <c:v>8.8</c:v>
                </c:pt>
                <c:pt idx="3">
                  <c:v>13</c:v>
                </c:pt>
                <c:pt idx="4">
                  <c:v>8</c:v>
                </c:pt>
                <c:pt idx="5">
                  <c:v>2.3</c:v>
                </c:pt>
                <c:pt idx="6">
                  <c:v>2.1</c:v>
                </c:pt>
                <c:pt idx="7">
                  <c:v>4.7</c:v>
                </c:pt>
                <c:pt idx="8">
                  <c:v>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TV Shows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TV-MA</c:v>
                </c:pt>
                <c:pt idx="1">
                  <c:v>TV-14</c:v>
                </c:pt>
                <c:pt idx="2">
                  <c:v>TV-PG</c:v>
                </c:pt>
                <c:pt idx="3">
                  <c:v>R</c:v>
                </c:pt>
                <c:pt idx="4">
                  <c:v>PG-13</c:v>
                </c:pt>
                <c:pt idx="5">
                  <c:v>TV-Y7</c:v>
                </c:pt>
                <c:pt idx="6">
                  <c:v>TV-Y</c:v>
                </c:pt>
                <c:pt idx="7">
                  <c:v>PG</c:v>
                </c:pt>
                <c:pt idx="8">
                  <c:v>TV-G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42.8</c:v>
                </c:pt>
                <c:pt idx="1">
                  <c:v>27.4</c:v>
                </c:pt>
                <c:pt idx="2">
                  <c:v>12.1</c:v>
                </c:pt>
                <c:pt idx="3">
                  <c:v>0.1</c:v>
                </c:pt>
                <c:pt idx="4">
                  <c:v>0</c:v>
                </c:pt>
                <c:pt idx="5">
                  <c:v>7.3</c:v>
                </c:pt>
                <c:pt idx="6">
                  <c:v>6.6</c:v>
                </c:pt>
                <c:pt idx="7">
                  <c:v>0</c:v>
                </c:pt>
                <c:pt idx="8">
                  <c:v>3.5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B3B3B3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e995f9b-eaa0-4414-b44b-b44bcd65224a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738</c:v>
                </c:pt>
                <c:pt idx="1">
                  <c:v>563</c:v>
                </c:pt>
                <c:pt idx="2">
                  <c:v>742</c:v>
                </c:pt>
                <c:pt idx="3">
                  <c:v>764</c:v>
                </c:pt>
                <c:pt idx="4">
                  <c:v>632</c:v>
                </c:pt>
                <c:pt idx="5">
                  <c:v>728</c:v>
                </c:pt>
                <c:pt idx="6">
                  <c:v>827</c:v>
                </c:pt>
                <c:pt idx="7">
                  <c:v>755</c:v>
                </c:pt>
                <c:pt idx="8">
                  <c:v>770</c:v>
                </c:pt>
                <c:pt idx="9">
                  <c:v>760</c:v>
                </c:pt>
                <c:pt idx="10">
                  <c:v>705</c:v>
                </c:pt>
                <c:pt idx="11">
                  <c:v>813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f71dcfe-97d5-4d67-80ee-2168146f108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B3B3B3"/>
                </a:solidFill>
                <a:latin typeface="+mn-lt"/>
              </a:rPr>
              <a:t>Most frequent directors (titles)</a:t>
            </a:r>
            <a:endParaRPr sz="1000" b="0" i="0" u="none" strike="noStrike">
              <a:solidFill>
                <a:srgbClr val="B3B3B3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Rajiv Chilaka</c:v>
                </c:pt>
                <c:pt idx="1">
                  <c:v>Jan Suter</c:v>
                </c:pt>
                <c:pt idx="2">
                  <c:v>Raúl Campos</c:v>
                </c:pt>
                <c:pt idx="3">
                  <c:v>Suhas Kadav</c:v>
                </c:pt>
                <c:pt idx="4">
                  <c:v>Marcus Raboy</c:v>
                </c:pt>
                <c:pt idx="5">
                  <c:v>Jay Karas</c:v>
                </c:pt>
                <c:pt idx="6">
                  <c:v>Cathy Garcia-Molina</c:v>
                </c:pt>
                <c:pt idx="7">
                  <c:v>Youssef Chahine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21</c:v>
                </c:pt>
                <c:pt idx="2">
                  <c:v>19</c:v>
                </c:pt>
                <c:pt idx="3">
                  <c:v>16</c:v>
                </c:pt>
                <c:pt idx="4">
                  <c:v>16</c:v>
                </c:pt>
                <c:pt idx="5">
                  <c:v>15</c:v>
                </c:pt>
                <c:pt idx="6">
                  <c:v>13</c:v>
                </c:pt>
                <c:pt idx="7">
                  <c:v>12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3B3B3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10caf61-324c-4c0f-b72d-d45063d2409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509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NETFLIX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84632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NETFLIX CONTENT ANALYSIS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54864" cy="45720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5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r">
              <a:buNone/>
              <a:def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6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12.xml"/><Relationship Id="rId1" Type="http://schemas.openxmlformats.org/officeDocument/2006/relationships/chart" Target="../charts/char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572000" cy="4572000"/>
          </a:xfrm>
          <a:prstGeom prst="ellipse">
            <a:avLst/>
          </a:prstGeom>
          <a:solidFill>
            <a:srgbClr val="E50914">
              <a:alpha val="20000"/>
            </a:srgbClr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E50914">
              <a:alpha val="12000"/>
            </a:srgbClr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82296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N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E509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NETFLIX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5836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Content Library: Exploratory Data Analysis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Uncovering trends in titles, genres, ratings and global content growth from 8,807 movies &amp; TV shows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91765" y="4206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What We'll Cover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188720"/>
            <a:ext cx="4114800" cy="100584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57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731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3898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91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Scope, structure and data quality of the titles catalog</a:t>
            </a:r>
            <a:endParaRPr lang="en-US" sz="950" dirty="0"/>
          </a:p>
        </p:txBody>
      </p:sp>
      <p:sp>
        <p:nvSpPr>
          <p:cNvPr id="9" name="card"/>
          <p:cNvSpPr/>
          <p:nvPr/>
        </p:nvSpPr>
        <p:spPr>
          <a:xfrm>
            <a:off x="4617720" y="1188720"/>
            <a:ext cx="4114800" cy="100584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188720"/>
            <a:ext cx="457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188720"/>
            <a:ext cx="731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3898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Mix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1691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Movies vs. TV Shows, runtimes and seasons</a:t>
            </a:r>
            <a:endParaRPr lang="en-US" sz="950" dirty="0"/>
          </a:p>
        </p:txBody>
      </p:sp>
      <p:sp>
        <p:nvSpPr>
          <p:cNvPr id="14" name="card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31720"/>
            <a:ext cx="457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331720"/>
            <a:ext cx="731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5328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 Over Time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834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catalog expanded and how fresh it is</a:t>
            </a:r>
            <a:endParaRPr lang="en-US" sz="950" dirty="0"/>
          </a:p>
        </p:txBody>
      </p:sp>
      <p:sp>
        <p:nvSpPr>
          <p:cNvPr id="19" name="card"/>
          <p:cNvSpPr/>
          <p:nvPr/>
        </p:nvSpPr>
        <p:spPr>
          <a:xfrm>
            <a:off x="4617720" y="2331720"/>
            <a:ext cx="4114800" cy="100584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331720"/>
            <a:ext cx="457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2331720"/>
            <a:ext cx="731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25328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Footprint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2834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countries produce the most content</a:t>
            </a:r>
            <a:endParaRPr lang="en-US" sz="950" dirty="0"/>
          </a:p>
        </p:txBody>
      </p:sp>
      <p:sp>
        <p:nvSpPr>
          <p:cNvPr id="24" name="card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474720"/>
            <a:ext cx="457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474720"/>
            <a:ext cx="731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05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6758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Genres &amp; Ratings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3977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genres and audience ratings that define the platform</a:t>
            </a:r>
            <a:endParaRPr lang="en-US" sz="950" dirty="0"/>
          </a:p>
        </p:txBody>
      </p:sp>
      <p:sp>
        <p:nvSpPr>
          <p:cNvPr id="29" name="card"/>
          <p:cNvSpPr/>
          <p:nvPr/>
        </p:nvSpPr>
        <p:spPr>
          <a:xfrm>
            <a:off x="4617720" y="3474720"/>
            <a:ext cx="4114800" cy="100584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474720"/>
            <a:ext cx="457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00600" y="3474720"/>
            <a:ext cx="731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06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5577840" y="36758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3977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data says about Netflix's content strategy</a:t>
            </a:r>
            <a:endParaRPr lang="en-US" sz="9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PREPARATION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Data Cleaning &amp; Feature Engineering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raw Netflix metadata into analysis-ready features</a:t>
            </a:r>
            <a:endParaRPr lang="en-US" sz="1050" dirty="0"/>
          </a:p>
        </p:txBody>
      </p:sp>
      <p:sp>
        <p:nvSpPr>
          <p:cNvPr id="5" name="card"/>
          <p:cNvSpPr/>
          <p:nvPr/>
        </p:nvSpPr>
        <p:spPr>
          <a:xfrm>
            <a:off x="365760" y="1371600"/>
            <a:ext cx="2697480" cy="246888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5720" cy="24688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 THE RAW DATA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23317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Parsed date_added to datetime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3 stand-up specials with runtime stored in rating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Checked duplicates (0) and missing values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3200400" y="1371600"/>
            <a:ext cx="2697480" cy="246888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371600"/>
            <a:ext cx="45720" cy="24688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508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 NEW FEATURES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057400"/>
            <a:ext cx="23317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year_added and month_added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duration_value and duration_unit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content_lag_years = year_added − release_year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6035040" y="1371600"/>
            <a:ext cx="2697480" cy="246888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45720" cy="24688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508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EXPLODED MULTI-VALUE FIELDS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057400"/>
            <a:ext cx="23317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Country → 122 unique countries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Genre → 42 unique genres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Director (4,993) and cast (36,439) split for deeper analysis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matters: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steps make trends, geography, freshness and genre comparisons easier to measure.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tabular snapshot of every Movie and TV Show listed on Netflix through 2021</a:t>
            </a:r>
            <a:endParaRPr lang="en-US" sz="1050" dirty="0"/>
          </a:p>
        </p:txBody>
      </p:sp>
      <p:sp>
        <p:nvSpPr>
          <p:cNvPr id="5" name="card"/>
          <p:cNvSpPr/>
          <p:nvPr/>
        </p:nvSpPr>
        <p:spPr>
          <a:xfrm>
            <a:off x="365760" y="1325880"/>
            <a:ext cx="1993392" cy="96012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5720" cy="9601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1719072" cy="480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8,807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53946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titles</a:t>
            </a:r>
            <a:endParaRPr lang="en-US" sz="950" dirty="0"/>
          </a:p>
        </p:txBody>
      </p:sp>
      <p:sp>
        <p:nvSpPr>
          <p:cNvPr id="9" name="card"/>
          <p:cNvSpPr/>
          <p:nvPr/>
        </p:nvSpPr>
        <p:spPr>
          <a:xfrm>
            <a:off x="2496312" y="1325880"/>
            <a:ext cx="1993392" cy="96012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325880"/>
            <a:ext cx="45720" cy="9601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1417320"/>
            <a:ext cx="1719072" cy="480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12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1853946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columns</a:t>
            </a:r>
            <a:endParaRPr lang="en-US" sz="950" dirty="0"/>
          </a:p>
        </p:txBody>
      </p:sp>
      <p:sp>
        <p:nvSpPr>
          <p:cNvPr id="13" name="card"/>
          <p:cNvSpPr/>
          <p:nvPr/>
        </p:nvSpPr>
        <p:spPr>
          <a:xfrm>
            <a:off x="4626864" y="1325880"/>
            <a:ext cx="1993392" cy="96012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325880"/>
            <a:ext cx="45720" cy="9601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9744" y="1417320"/>
            <a:ext cx="1719072" cy="480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122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1853946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Countries represented</a:t>
            </a:r>
            <a:endParaRPr lang="en-US" sz="950" dirty="0"/>
          </a:p>
        </p:txBody>
      </p:sp>
      <p:sp>
        <p:nvSpPr>
          <p:cNvPr id="17" name="card"/>
          <p:cNvSpPr/>
          <p:nvPr/>
        </p:nvSpPr>
        <p:spPr>
          <a:xfrm>
            <a:off x="6757416" y="1325880"/>
            <a:ext cx="1993392" cy="96012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57416" y="1325880"/>
            <a:ext cx="45720" cy="9601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0296" y="1417320"/>
            <a:ext cx="1719072" cy="480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1925–2021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40296" y="1853946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 year span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2514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columns in the data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2834640"/>
            <a:ext cx="39319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show_id: unique identifier for each title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type: Movie or TV Show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title, director, cast, country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date_added, release_year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rating, duration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listed_in: genre(s); description</a:t>
            </a:r>
            <a:endParaRPr lang="en-US" sz="1000" dirty="0"/>
          </a:p>
        </p:txBody>
      </p:sp>
      <p:sp>
        <p:nvSpPr>
          <p:cNvPr id="23" name="card"/>
          <p:cNvSpPr/>
          <p:nvPr/>
        </p:nvSpPr>
        <p:spPr>
          <a:xfrm>
            <a:off x="4572000" y="2514600"/>
            <a:ext cx="4206240" cy="205740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514600"/>
            <a:ext cx="45720" cy="2057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2606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 at a glance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0175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director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017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509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2,634 missing (~30%)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3401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4015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509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825 missing (~9%)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7856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7856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509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831 missing (~9%)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416966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date_added / rating / duration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4169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509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0.2% missing</a:t>
            </a:r>
            <a:endParaRPr lang="en-US" sz="10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MIX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Movies Dominate the Catalog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of content type across all 8,807 Netflix titles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4937760" y="1371600"/>
            <a:ext cx="3840480" cy="146304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37760" y="1371600"/>
            <a:ext cx="45720" cy="14630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20640" y="146304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6,131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176272"/>
            <a:ext cx="356616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Movies (69.6%)  ·  average runtime ≈ 100 minutes</a:t>
            </a:r>
            <a:endParaRPr lang="en-US" sz="950" dirty="0"/>
          </a:p>
        </p:txBody>
      </p:sp>
      <p:sp>
        <p:nvSpPr>
          <p:cNvPr id="10" name="card"/>
          <p:cNvSpPr/>
          <p:nvPr/>
        </p:nvSpPr>
        <p:spPr>
          <a:xfrm>
            <a:off x="4937760" y="3017520"/>
            <a:ext cx="3840480" cy="146304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3017520"/>
            <a:ext cx="45720" cy="14630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20640" y="310896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2,676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3822192"/>
            <a:ext cx="356616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TV Shows (30.4%)  ·  average length ≈ 1.8 seasons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 OVER TIME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Explosive Catalog Growth, 2015–2019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Titles added to Netflix by year, split by content type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34440"/>
          <a:ext cx="84124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2019 was the peak year: 2,016 titles added (82 in 2015, about 25x). Additions eased in 2020–21; 2021 is a partial year.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 OVER TIME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TV Share Is Recovering, Not Steadily Rising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TV Shows as a percentage of titles added each year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34440"/>
          <a:ext cx="57607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6400800" y="1371600"/>
            <a:ext cx="2377440" cy="137160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0" y="1371600"/>
            <a:ext cx="45720" cy="13716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46304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41% → 25%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1259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2016 peak to 2018 low</a:t>
            </a:r>
            <a:endParaRPr lang="en-US" sz="950" dirty="0"/>
          </a:p>
        </p:txBody>
      </p:sp>
      <p:sp>
        <p:nvSpPr>
          <p:cNvPr id="10" name="card"/>
          <p:cNvSpPr/>
          <p:nvPr/>
        </p:nvSpPr>
        <p:spPr>
          <a:xfrm>
            <a:off x="6400800" y="2926080"/>
            <a:ext cx="2377440" cy="137160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2926080"/>
            <a:ext cx="45720" cy="13716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0" y="301752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34%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368046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TV share of titles added in 2021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MIX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How Long Is Netflix Content?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Movie runtime (minutes) and TV Show length (seasons)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50876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50876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Median movie ≈ 98 min; 67% of TV Shows have just one season.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FRESHNESS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How Fresh Is the Netflix Catalog?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added vs. release year gives a simple view of freshness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5760720" y="1280160"/>
            <a:ext cx="3017520" cy="91440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1280160"/>
            <a:ext cx="45720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37%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783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in the same year they were released</a:t>
            </a:r>
            <a:endParaRPr lang="en-US" sz="950" dirty="0"/>
          </a:p>
        </p:txBody>
      </p:sp>
      <p:sp>
        <p:nvSpPr>
          <p:cNvPr id="10" name="card"/>
          <p:cNvSpPr/>
          <p:nvPr/>
        </p:nvSpPr>
        <p:spPr>
          <a:xfrm>
            <a:off x="5760720" y="2331720"/>
            <a:ext cx="3017520" cy="91440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2331720"/>
            <a:ext cx="45720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2423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8346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within one year of release</a:t>
            </a:r>
            <a:endParaRPr lang="en-US" sz="950" dirty="0"/>
          </a:p>
        </p:txBody>
      </p:sp>
      <p:sp>
        <p:nvSpPr>
          <p:cNvPr id="14" name="card"/>
          <p:cNvSpPr/>
          <p:nvPr/>
        </p:nvSpPr>
        <p:spPr>
          <a:xfrm>
            <a:off x="5760720" y="3383280"/>
            <a:ext cx="3017520" cy="91440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3383280"/>
            <a:ext cx="45720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0" y="3474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1 year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3886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median lag (mean 4.7 years)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long tail of older titles pulls the mean far above the median: a fresh catalog with a substantial back-catalog.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FOOTPRINT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The US and India Lead Global Production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10 countries by number of titles (co-productions count for each country)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58521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6492240" y="1371600"/>
            <a:ext cx="2286000" cy="132588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92240" y="1371600"/>
            <a:ext cx="45720" cy="13258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1463040"/>
            <a:ext cx="2011680" cy="662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46%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100834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titles with a listed country involve the US</a:t>
            </a:r>
            <a:endParaRPr lang="en-US" sz="950" dirty="0"/>
          </a:p>
        </p:txBody>
      </p:sp>
      <p:sp>
        <p:nvSpPr>
          <p:cNvPr id="10" name="card"/>
          <p:cNvSpPr/>
          <p:nvPr/>
        </p:nvSpPr>
        <p:spPr>
          <a:xfrm>
            <a:off x="6492240" y="2880360"/>
            <a:ext cx="2286000" cy="132588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880360"/>
            <a:ext cx="45720" cy="13258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0" y="2971800"/>
            <a:ext cx="2011680" cy="662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3,690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609594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 titles, then India 1,046 and UK 806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FOOTPRINT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Movie vs. TV Mix Differs Sharply by Country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of each top-10 country's titles that are Movies vs. TV Shows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 is movie-heavy (92%); South Korea (74%) and Japan (63%) lean toward TV.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FOOTPRINT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Growth by Country, 2015–2021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Titles added per year in the five largest producing countries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 peaked in 2019 (856 titles); India peaked earlier, in 2018 (349), after ramping from 13 titles in 2016.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GENRES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Dramas and International Titles Top the Genre List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common genres across the catalog (titles can belong to multiple genres)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8412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GENRES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Top Genres: Movies vs. TV Shows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leading six genres within each content type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50876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50876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RATINGS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Mature Audiences Are the Primary Focus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Distribution of content ratings across the catalog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57607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6400800" y="1371600"/>
            <a:ext cx="2377440" cy="141732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0" y="1371600"/>
            <a:ext cx="45720" cy="1417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463040"/>
            <a:ext cx="2103120" cy="708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61.0%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151126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titles are TV-MA or TV-14: aimed at teens and adults</a:t>
            </a:r>
            <a:endParaRPr lang="en-US" sz="950" dirty="0"/>
          </a:p>
        </p:txBody>
      </p:sp>
      <p:sp>
        <p:nvSpPr>
          <p:cNvPr id="10" name="card"/>
          <p:cNvSpPr/>
          <p:nvPr/>
        </p:nvSpPr>
        <p:spPr>
          <a:xfrm>
            <a:off x="6400800" y="2971800"/>
            <a:ext cx="2377440" cy="141732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2971800"/>
            <a:ext cx="45720" cy="1417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0" y="3063240"/>
            <a:ext cx="2103120" cy="708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7.3%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3751326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 TV-Y or TV-Y7, made for young children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RATINGS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Rating Mix: Movies vs. TV Shows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Percentage of each content type carrying each rating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Movies carry the theatrical ratings (R, PG-13, PG); TV Shows are heavier in TV-MA (43%) and children's ratings.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 OVER TIME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When Is Content Added?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Titles added by month, all years combined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Additions are steady through the year: July (827) and December (813) are busiest, February (563) quietest.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CREATIVE FOOTPRINT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A Broad Creative Footprint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Director metadata shows a highly fragmented creator landscape</a:t>
            </a:r>
            <a:endParaRPr lang="en-US" sz="1050" dirty="0"/>
          </a:p>
        </p:txBody>
      </p:sp>
      <p:sp>
        <p:nvSpPr>
          <p:cNvPr id="5" name="card"/>
          <p:cNvSpPr/>
          <p:nvPr/>
        </p:nvSpPr>
        <p:spPr>
          <a:xfrm>
            <a:off x="365760" y="1325880"/>
            <a:ext cx="2651760" cy="109728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5720" cy="10972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4,993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9384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directors in the dataset</a:t>
            </a:r>
            <a:endParaRPr lang="en-US" sz="950" dirty="0"/>
          </a:p>
        </p:txBody>
      </p:sp>
      <p:sp>
        <p:nvSpPr>
          <p:cNvPr id="9" name="card"/>
          <p:cNvSpPr/>
          <p:nvPr/>
        </p:nvSpPr>
        <p:spPr>
          <a:xfrm>
            <a:off x="365760" y="2560320"/>
            <a:ext cx="2651760" cy="109728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60320"/>
            <a:ext cx="45720" cy="10972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517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3,970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63824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directors appear on only one title</a:t>
            </a:r>
            <a:endParaRPr lang="en-US" sz="950" dirty="0"/>
          </a:p>
        </p:txBody>
      </p:sp>
      <p:sp>
        <p:nvSpPr>
          <p:cNvPr id="13" name="card"/>
          <p:cNvSpPr/>
          <p:nvPr/>
        </p:nvSpPr>
        <p:spPr>
          <a:xfrm>
            <a:off x="365760" y="3794760"/>
            <a:ext cx="2651760" cy="77724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794760"/>
            <a:ext cx="45720" cy="7772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86200"/>
            <a:ext cx="237744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091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≈79.5%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22242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appear on just one title</a:t>
            </a:r>
            <a:endParaRPr lang="en-US" sz="9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291840" y="1280160"/>
          <a:ext cx="54864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Caveat: director is missing for 91% of TV Shows, so this is a metadata view, not a complete creator map.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exploratory analysis tells us about Netflix's content strategy</a:t>
            </a:r>
            <a:endParaRPr lang="en-US" sz="1050" dirty="0"/>
          </a:p>
        </p:txBody>
      </p:sp>
      <p:sp>
        <p:nvSpPr>
          <p:cNvPr id="5" name="card"/>
          <p:cNvSpPr/>
          <p:nvPr/>
        </p:nvSpPr>
        <p:spPr>
          <a:xfrm>
            <a:off x="365760" y="1325880"/>
            <a:ext cx="4114800" cy="987552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5720" cy="9875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53896"/>
            <a:ext cx="310896" cy="31089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4538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Movies lead; TV is recovering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709928"/>
            <a:ext cx="34747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 of titles are Movies. TV share fell from 41% (2016) to 25% (2018) and is back to ~34% in 2021.</a:t>
            </a:r>
            <a:endParaRPr lang="en-US" sz="900" dirty="0"/>
          </a:p>
        </p:txBody>
      </p:sp>
      <p:sp>
        <p:nvSpPr>
          <p:cNvPr id="11" name="card"/>
          <p:cNvSpPr/>
          <p:nvPr/>
        </p:nvSpPr>
        <p:spPr>
          <a:xfrm>
            <a:off x="4617720" y="1325880"/>
            <a:ext cx="4114800" cy="987552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325880"/>
            <a:ext cx="45720" cy="9875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453896"/>
            <a:ext cx="310896" cy="31089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14538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4173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 peaked in 2019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1709928"/>
            <a:ext cx="34747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Additions rose from 82 (2015) to 2,016 (2019), about 25x, before easing in 2020–21, likely reflecting production pauses.</a:t>
            </a:r>
            <a:endParaRPr lang="en-US" sz="900" dirty="0"/>
          </a:p>
        </p:txBody>
      </p:sp>
      <p:sp>
        <p:nvSpPr>
          <p:cNvPr id="17" name="card"/>
          <p:cNvSpPr/>
          <p:nvPr/>
        </p:nvSpPr>
        <p:spPr>
          <a:xfrm>
            <a:off x="365760" y="2404872"/>
            <a:ext cx="4114800" cy="987552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04872"/>
            <a:ext cx="45720" cy="9875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532888"/>
            <a:ext cx="310896" cy="31089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25328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249631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global library, US-anchored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2788920"/>
            <a:ext cx="34747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 appears on ~46% of titles with a listed country; India, the UK, Japan and South Korea add deep international variety.</a:t>
            </a:r>
            <a:endParaRPr lang="en-US" sz="900" dirty="0"/>
          </a:p>
        </p:txBody>
      </p:sp>
      <p:sp>
        <p:nvSpPr>
          <p:cNvPr id="23" name="card"/>
          <p:cNvSpPr/>
          <p:nvPr/>
        </p:nvSpPr>
        <p:spPr>
          <a:xfrm>
            <a:off x="4617720" y="2404872"/>
            <a:ext cx="4114800" cy="987552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404872"/>
            <a:ext cx="45720" cy="9875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532888"/>
            <a:ext cx="310896" cy="31089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0" y="25328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249631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for grown-up viewers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2788920"/>
            <a:ext cx="34747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61% of titles are TV-MA or TV-14, while only 7.3% target young children.</a:t>
            </a:r>
            <a:endParaRPr lang="en-US" sz="900" dirty="0"/>
          </a:p>
        </p:txBody>
      </p:sp>
      <p:sp>
        <p:nvSpPr>
          <p:cNvPr id="29" name="card"/>
          <p:cNvSpPr/>
          <p:nvPr/>
        </p:nvSpPr>
        <p:spPr>
          <a:xfrm>
            <a:off x="365760" y="3483864"/>
            <a:ext cx="4114800" cy="987552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483864"/>
            <a:ext cx="45720" cy="9875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611880"/>
            <a:ext cx="310896" cy="31089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2920" y="36118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357530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Fresh plus back-catalog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3867912"/>
            <a:ext cx="34747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55% of titles were added within a year of release, with a long tail of older titles.</a:t>
            </a:r>
            <a:endParaRPr lang="en-US" sz="900" dirty="0"/>
          </a:p>
        </p:txBody>
      </p:sp>
      <p:sp>
        <p:nvSpPr>
          <p:cNvPr id="35" name="card"/>
          <p:cNvSpPr/>
          <p:nvPr/>
        </p:nvSpPr>
        <p:spPr>
          <a:xfrm>
            <a:off x="4617720" y="3483864"/>
            <a:ext cx="4114800" cy="987552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3483864"/>
            <a:ext cx="45720" cy="9875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611880"/>
            <a:ext cx="310896" cy="31089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54880" y="36118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357530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Short-form series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166360" y="3867912"/>
            <a:ext cx="34747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67% of TV Shows have one season; the typical movie runs ~98 minutes.</a:t>
            </a:r>
            <a:endParaRPr lang="en-US" sz="9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body" idx="103" hasCustomPrompt="1"/>
          </p:nvPr>
        </p:nvSpPr>
        <p:spPr>
          <a:xfrm>
            <a:off x="6035040" y="137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750" dirty="0"/>
          </a:p>
        </p:txBody>
      </p:sp>
      <p:sp>
        <p:nvSpPr>
          <p:cNvPr id="3" name="Text 3"/>
          <p:cNvSpPr/>
          <p:nvPr>
            <p:ph type="title" idx="104" hasCustomPrompt="1"/>
          </p:nvPr>
        </p:nvSpPr>
        <p:spPr>
          <a:xfrm>
            <a:off x="548640" y="43891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What This Dataset Can and Can't Tell Us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Keeping the analysis grounded in title-level metadata</a:t>
            </a:r>
            <a:endParaRPr lang="en-US" sz="1050" dirty="0"/>
          </a:p>
        </p:txBody>
      </p:sp>
      <p:sp>
        <p:nvSpPr>
          <p:cNvPr id="5" name="card"/>
          <p:cNvSpPr/>
          <p:nvPr/>
        </p:nvSpPr>
        <p:spPr>
          <a:xfrm>
            <a:off x="365760" y="1371600"/>
            <a:ext cx="2697480" cy="265176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5720" cy="2651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CAN ANALYZE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23774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Catalog composition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Genre &amp; rating mix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Geographic footprint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 trends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freshness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Creator metadata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3200400" y="1371600"/>
            <a:ext cx="2697480" cy="265176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371600"/>
            <a:ext cx="45720" cy="2651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5087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CANNOT MEASURE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920240"/>
            <a:ext cx="23774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Views or watch time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Audience engagement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/ ROI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Acquisition spend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title performance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costs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6035040" y="1371600"/>
            <a:ext cx="2697480" cy="2651760"/>
          </a:xfrm>
          <a:prstGeom prst="rect">
            <a:avLst/>
          </a:prstGeom>
          <a:solidFill>
            <a:srgbClr val="1C1A1A"/>
          </a:solidFill>
          <a:ln w="6350">
            <a:solidFill>
              <a:srgbClr val="2A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45720" cy="2651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5087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IN MIND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20240"/>
            <a:ext cx="23774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Snapshot runs to late 2021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metadata exists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Multi-country / multi-genre titles are counted once per value after exploding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Bottom line: this is a content-library analysis, not a performance or investment analysis.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0116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B6B6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572000" cy="4572000"/>
          </a:xfrm>
          <a:prstGeom prst="ellipse">
            <a:avLst/>
          </a:prstGeom>
          <a:solidFill>
            <a:srgbClr val="E50914">
              <a:alpha val="20000"/>
            </a:srgbClr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509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69494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Netflix's catalog is large, global and movie-heavy, but also diverse in genres, regions and creators.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6217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EDA highlights the structure and evolution of the library while keeping the limits of title-level metadata clear.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flix EDA">
  <a:themeElements>
    <a:clrScheme name="Netflix EDA">
      <a:dk1>
        <a:srgbClr val="0F0F0F"/>
      </a:dk1>
      <a:lt1>
        <a:srgbClr val="FFFFFF"/>
      </a:lt1>
      <a:dk2>
        <a:srgbClr val="1C1A1A"/>
      </a:dk2>
      <a:lt2>
        <a:srgbClr val="F5F5F5"/>
      </a:lt2>
      <a:accent1>
        <a:srgbClr val="E50914"/>
      </a:accent1>
      <a:accent2>
        <a:srgbClr val="6B6B6B"/>
      </a:accent2>
      <a:accent3>
        <a:srgbClr val="B3B3B3"/>
      </a:accent3>
      <a:accent4>
        <a:srgbClr val="B20710"/>
      </a:accent4>
      <a:accent5>
        <a:srgbClr val="373737"/>
      </a:accent5>
      <a:accent6>
        <a:srgbClr val="DCDCDC"/>
      </a:accent6>
      <a:hlink>
        <a:srgbClr val="E50914"/>
      </a:hlink>
      <a:folHlink>
        <a:srgbClr val="B3B3B3"/>
      </a:folHlink>
    </a:clrScheme>
    <a:fontScheme name="Netflix EDA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tflix EDA">
  <a:themeElements>
    <a:clrScheme name="Netflix EDA">
      <a:dk1>
        <a:srgbClr val="0F0F0F"/>
      </a:dk1>
      <a:lt1>
        <a:srgbClr val="FFFFFF"/>
      </a:lt1>
      <a:dk2>
        <a:srgbClr val="1C1A1A"/>
      </a:dk2>
      <a:lt2>
        <a:srgbClr val="F5F5F5"/>
      </a:lt2>
      <a:accent1>
        <a:srgbClr val="E50914"/>
      </a:accent1>
      <a:accent2>
        <a:srgbClr val="6B6B6B"/>
      </a:accent2>
      <a:accent3>
        <a:srgbClr val="B3B3B3"/>
      </a:accent3>
      <a:accent4>
        <a:srgbClr val="B20710"/>
      </a:accent4>
      <a:accent5>
        <a:srgbClr val="373737"/>
      </a:accent5>
      <a:accent6>
        <a:srgbClr val="DCDCDC"/>
      </a:accent6>
      <a:hlink>
        <a:srgbClr val="E50914"/>
      </a:hlink>
      <a:folHlink>
        <a:srgbClr val="B3B3B3"/>
      </a:folHlink>
    </a:clrScheme>
    <a:fontScheme name="Netflix EDA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6173</Words>
  <Application>WPS Presentation</Application>
  <PresentationFormat>On-screen Show (16:9)</PresentationFormat>
  <Paragraphs>397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Calibri</vt:lpstr>
      <vt:lpstr>Calibri</vt:lpstr>
      <vt:lpstr>Calibri</vt:lpstr>
      <vt:lpstr>Bookman Old Style</vt:lpstr>
      <vt:lpstr>Bookman Old Style</vt:lpstr>
      <vt:lpstr>Bookman Old Style</vt:lpstr>
      <vt:lpstr>Arial</vt:lpstr>
      <vt:lpstr>Microsoft YaHei</vt:lpstr>
      <vt:lpstr>Arial Unicode MS</vt:lpstr>
      <vt:lpstr>Netflix EDA</vt:lpstr>
      <vt:lpstr>PowerPoint 演示文稿</vt:lpstr>
      <vt:lpstr>What We'll Cover</vt:lpstr>
      <vt:lpstr>Data Cleaning &amp; Feature Engineering</vt:lpstr>
      <vt:lpstr>Dataset Overview</vt:lpstr>
      <vt:lpstr>Movies Dominate the Catalog</vt:lpstr>
      <vt:lpstr>Explosive Catalog Growth, 2015–2019</vt:lpstr>
      <vt:lpstr>TV Share Is Recovering, Not Steadily Rising</vt:lpstr>
      <vt:lpstr>How Long Is Netflix Content?</vt:lpstr>
      <vt:lpstr>How Fresh Is the Netflix Catalog?</vt:lpstr>
      <vt:lpstr>The US and India Lead Global Production</vt:lpstr>
      <vt:lpstr>Movie vs. TV Mix Differs Sharply by Country</vt:lpstr>
      <vt:lpstr>Growth by Country, 2015–2021</vt:lpstr>
      <vt:lpstr>Dramas and International Titles Top the Genre List</vt:lpstr>
      <vt:lpstr>Top Genres: Movies vs. TV Shows</vt:lpstr>
      <vt:lpstr>Mature Audiences Are the Primary Focus</vt:lpstr>
      <vt:lpstr>Rating Mix: Movies vs. TV Shows</vt:lpstr>
      <vt:lpstr>When Is Content Added?</vt:lpstr>
      <vt:lpstr>A Broad Creative Footprint</vt:lpstr>
      <vt:lpstr>Key Insights</vt:lpstr>
      <vt:lpstr>What This Dataset Can and Can't Tell Us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Library EDA</dc:title>
  <dc:creator>PptxGenJS</dc:creator>
  <dc:subject>PptxGenJS Presentation</dc:subject>
  <cp:lastModifiedBy>hp</cp:lastModifiedBy>
  <cp:revision>2</cp:revision>
  <dcterms:created xsi:type="dcterms:W3CDTF">2026-10-20T11:31:00Z</dcterms:created>
  <dcterms:modified xsi:type="dcterms:W3CDTF">2026-10-20T11:35:00Z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FDB7B18DAC6C43B79A5C4E702B74A399_12</vt:lpwstr>
  </property>
  <property fmtid="{D5CDD505-2E9C-101B-9397-08002B2CF9AE}" pid="3" name="KSOProductBuildVer">
    <vt:lpwstr>1033-12.1.0.29162</vt:lpwstr>
  </property>
</Properties>
</file>